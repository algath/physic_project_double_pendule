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63" r:id="rId4"/>
  </p:sldMasterIdLst>
  <p:notesMasterIdLst>
    <p:notesMasterId r:id="rId11"/>
  </p:notesMasterIdLst>
  <p:handoutMasterIdLst>
    <p:handoutMasterId r:id="rId12"/>
  </p:handoutMasterIdLst>
  <p:sldIdLst>
    <p:sldId id="773" r:id="rId5"/>
    <p:sldId id="813" r:id="rId6"/>
    <p:sldId id="815" r:id="rId7"/>
    <p:sldId id="818" r:id="rId8"/>
    <p:sldId id="817" r:id="rId9"/>
    <p:sldId id="812" r:id="rId10"/>
  </p:sldIdLst>
  <p:sldSz cx="12192000" cy="6858000"/>
  <p:notesSz cx="7104063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ésentations" id="{7C826870-920B-4148-9F65-EC0CA3E72225}">
          <p14:sldIdLst>
            <p14:sldId id="773"/>
            <p14:sldId id="813"/>
            <p14:sldId id="815"/>
            <p14:sldId id="818"/>
            <p14:sldId id="817"/>
            <p14:sldId id="81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9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ierre-André Mudry" initials="mui" lastIdx="1" clrIdx="0">
    <p:extLst>
      <p:ext uri="{19B8F6BF-5375-455C-9EA6-DF929625EA0E}">
        <p15:presenceInfo xmlns:p15="http://schemas.microsoft.com/office/powerpoint/2012/main" userId="Pierre-André Mudr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15968"/>
    <a:srgbClr val="F7F5D5"/>
    <a:srgbClr val="E3F7D9"/>
    <a:srgbClr val="EBEBB5"/>
    <a:srgbClr val="CC0099"/>
    <a:srgbClr val="1947A3"/>
    <a:srgbClr val="FCC704"/>
    <a:srgbClr val="4B86E7"/>
    <a:srgbClr val="A8227B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958C3D-18A3-4B2E-A046-5913D95544F0}" v="1" dt="2026-01-18T14:19:02.5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44" autoAdjust="0"/>
    <p:restoredTop sz="49438" autoAdjust="0"/>
  </p:normalViewPr>
  <p:slideViewPr>
    <p:cSldViewPr>
      <p:cViewPr varScale="1">
        <p:scale>
          <a:sx n="63" d="100"/>
          <a:sy n="63" d="100"/>
        </p:scale>
        <p:origin x="60" y="4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115" d="100"/>
          <a:sy n="115" d="100"/>
        </p:scale>
        <p:origin x="5178" y="126"/>
      </p:cViewPr>
      <p:guideLst>
        <p:guide orient="horz" pos="3224"/>
        <p:guide pos="223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nad Maroua" userId="3c8c1996-05ae-44ec-be8b-279f65d1a65a" providerId="ADAL" clId="{C4A395A7-2EF0-4F9E-8DE1-68D41C3A6BA2}"/>
    <pc:docChg chg="undo custSel addSld modSld modSection">
      <pc:chgData name="Zanad Maroua" userId="3c8c1996-05ae-44ec-be8b-279f65d1a65a" providerId="ADAL" clId="{C4A395A7-2EF0-4F9E-8DE1-68D41C3A6BA2}" dt="2026-01-18T14:19:31.598" v="270" actId="20577"/>
      <pc:docMkLst>
        <pc:docMk/>
      </pc:docMkLst>
      <pc:sldChg chg="delSp modSp mod delAnim">
        <pc:chgData name="Zanad Maroua" userId="3c8c1996-05ae-44ec-be8b-279f65d1a65a" providerId="ADAL" clId="{C4A395A7-2EF0-4F9E-8DE1-68D41C3A6BA2}" dt="2026-01-18T14:17:17.787" v="1" actId="478"/>
        <pc:sldMkLst>
          <pc:docMk/>
          <pc:sldMk cId="701930509" sldId="813"/>
        </pc:sldMkLst>
        <pc:picChg chg="del ord">
          <ac:chgData name="Zanad Maroua" userId="3c8c1996-05ae-44ec-be8b-279f65d1a65a" providerId="ADAL" clId="{C4A395A7-2EF0-4F9E-8DE1-68D41C3A6BA2}" dt="2026-01-18T14:17:17.787" v="1" actId="478"/>
          <ac:picMkLst>
            <pc:docMk/>
            <pc:sldMk cId="701930509" sldId="813"/>
            <ac:picMk id="8" creationId="{420208FF-4A58-92D9-AB65-5E5FCC5C22FF}"/>
          </ac:picMkLst>
        </pc:picChg>
      </pc:sldChg>
      <pc:sldChg chg="modSp add mod">
        <pc:chgData name="Zanad Maroua" userId="3c8c1996-05ae-44ec-be8b-279f65d1a65a" providerId="ADAL" clId="{C4A395A7-2EF0-4F9E-8DE1-68D41C3A6BA2}" dt="2026-01-18T14:17:44.697" v="24" actId="20577"/>
        <pc:sldMkLst>
          <pc:docMk/>
          <pc:sldMk cId="2946429567" sldId="816"/>
        </pc:sldMkLst>
        <pc:spChg chg="mod">
          <ac:chgData name="Zanad Maroua" userId="3c8c1996-05ae-44ec-be8b-279f65d1a65a" providerId="ADAL" clId="{C4A395A7-2EF0-4F9E-8DE1-68D41C3A6BA2}" dt="2026-01-18T14:17:41.253" v="23" actId="20577"/>
          <ac:spMkLst>
            <pc:docMk/>
            <pc:sldMk cId="2946429567" sldId="816"/>
            <ac:spMk id="2" creationId="{2B12DBF4-6BD1-A37C-3E1D-274CDB663C9F}"/>
          </ac:spMkLst>
        </pc:spChg>
        <pc:spChg chg="mod">
          <ac:chgData name="Zanad Maroua" userId="3c8c1996-05ae-44ec-be8b-279f65d1a65a" providerId="ADAL" clId="{C4A395A7-2EF0-4F9E-8DE1-68D41C3A6BA2}" dt="2026-01-18T14:17:44.697" v="24" actId="20577"/>
          <ac:spMkLst>
            <pc:docMk/>
            <pc:sldMk cId="2946429567" sldId="816"/>
            <ac:spMk id="3" creationId="{A7EE84F3-4A46-E0F8-B1D6-853667EC49C9}"/>
          </ac:spMkLst>
        </pc:spChg>
      </pc:sldChg>
      <pc:sldChg chg="modSp add mod">
        <pc:chgData name="Zanad Maroua" userId="3c8c1996-05ae-44ec-be8b-279f65d1a65a" providerId="ADAL" clId="{C4A395A7-2EF0-4F9E-8DE1-68D41C3A6BA2}" dt="2026-01-18T14:19:31.598" v="270" actId="20577"/>
        <pc:sldMkLst>
          <pc:docMk/>
          <pc:sldMk cId="3136029744" sldId="817"/>
        </pc:sldMkLst>
        <pc:spChg chg="mod">
          <ac:chgData name="Zanad Maroua" userId="3c8c1996-05ae-44ec-be8b-279f65d1a65a" providerId="ADAL" clId="{C4A395A7-2EF0-4F9E-8DE1-68D41C3A6BA2}" dt="2026-01-18T14:18:03.215" v="36" actId="20577"/>
          <ac:spMkLst>
            <pc:docMk/>
            <pc:sldMk cId="3136029744" sldId="817"/>
            <ac:spMk id="2" creationId="{3BEBCE5E-FE49-F744-1D9C-D431B5B319B7}"/>
          </ac:spMkLst>
        </pc:spChg>
        <pc:spChg chg="mod">
          <ac:chgData name="Zanad Maroua" userId="3c8c1996-05ae-44ec-be8b-279f65d1a65a" providerId="ADAL" clId="{C4A395A7-2EF0-4F9E-8DE1-68D41C3A6BA2}" dt="2026-01-18T14:19:31.598" v="270" actId="20577"/>
          <ac:spMkLst>
            <pc:docMk/>
            <pc:sldMk cId="3136029744" sldId="817"/>
            <ac:spMk id="3" creationId="{148A6D9F-0D04-4C9E-CC58-704FC06105E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078427" cy="511731"/>
          </a:xfrm>
          <a:prstGeom prst="rect">
            <a:avLst/>
          </a:prstGeom>
        </p:spPr>
        <p:txBody>
          <a:bodyPr vert="horz" lIns="94749" tIns="47373" rIns="94749" bIns="47373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023994" y="1"/>
            <a:ext cx="3078427" cy="511731"/>
          </a:xfrm>
          <a:prstGeom prst="rect">
            <a:avLst/>
          </a:prstGeom>
        </p:spPr>
        <p:txBody>
          <a:bodyPr vert="horz" lIns="94749" tIns="47373" rIns="94749" bIns="47373" rtlCol="0"/>
          <a:lstStyle>
            <a:lvl1pPr algn="r">
              <a:defRPr sz="1200"/>
            </a:lvl1pPr>
          </a:lstStyle>
          <a:p>
            <a:fld id="{A9A38115-2533-4DD5-A77A-754771AFE5B4}" type="datetimeFigureOut">
              <a:rPr lang="fr-FR" smtClean="0"/>
              <a:pPr/>
              <a:t>18/01/2026</a:t>
            </a:fld>
            <a:endParaRPr lang="fr-CH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2" y="9721108"/>
            <a:ext cx="3078427" cy="511731"/>
          </a:xfrm>
          <a:prstGeom prst="rect">
            <a:avLst/>
          </a:prstGeom>
        </p:spPr>
        <p:txBody>
          <a:bodyPr vert="horz" lIns="94749" tIns="47373" rIns="94749" bIns="47373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023994" y="9721108"/>
            <a:ext cx="3078427" cy="511731"/>
          </a:xfrm>
          <a:prstGeom prst="rect">
            <a:avLst/>
          </a:prstGeom>
        </p:spPr>
        <p:txBody>
          <a:bodyPr vert="horz" lIns="94749" tIns="47373" rIns="94749" bIns="47373" rtlCol="0" anchor="b"/>
          <a:lstStyle>
            <a:lvl1pPr algn="r">
              <a:defRPr sz="1200"/>
            </a:lvl1pPr>
          </a:lstStyle>
          <a:p>
            <a:fld id="{B8D95ED4-4302-4B9F-9D23-41135BD21B7E}" type="slidenum">
              <a:rPr lang="fr-CH" smtClean="0"/>
              <a:pPr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061805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078427" cy="511731"/>
          </a:xfrm>
          <a:prstGeom prst="rect">
            <a:avLst/>
          </a:prstGeom>
        </p:spPr>
        <p:txBody>
          <a:bodyPr vert="horz" lIns="94749" tIns="47373" rIns="94749" bIns="47373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994" y="1"/>
            <a:ext cx="3078427" cy="511731"/>
          </a:xfrm>
          <a:prstGeom prst="rect">
            <a:avLst/>
          </a:prstGeom>
        </p:spPr>
        <p:txBody>
          <a:bodyPr vert="horz" lIns="94749" tIns="47373" rIns="94749" bIns="47373" rtlCol="0"/>
          <a:lstStyle>
            <a:lvl1pPr algn="r">
              <a:defRPr sz="1200"/>
            </a:lvl1pPr>
          </a:lstStyle>
          <a:p>
            <a:fld id="{935D434A-8A59-4F13-9A59-26B08A6D282A}" type="datetimeFigureOut">
              <a:rPr lang="fr-FR" smtClean="0"/>
              <a:pPr/>
              <a:t>18/01/2026</a:t>
            </a:fld>
            <a:endParaRPr lang="fr-CH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6763"/>
            <a:ext cx="6824663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49" tIns="47373" rIns="94749" bIns="47373" rtlCol="0" anchor="ctr"/>
          <a:lstStyle/>
          <a:p>
            <a:endParaRPr lang="fr-CH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408" y="4861442"/>
            <a:ext cx="5683250" cy="4605577"/>
          </a:xfrm>
          <a:prstGeom prst="rect">
            <a:avLst/>
          </a:prstGeom>
        </p:spPr>
        <p:txBody>
          <a:bodyPr vert="horz" lIns="94749" tIns="47373" rIns="94749" bIns="47373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2" y="9721108"/>
            <a:ext cx="3078427" cy="511731"/>
          </a:xfrm>
          <a:prstGeom prst="rect">
            <a:avLst/>
          </a:prstGeom>
        </p:spPr>
        <p:txBody>
          <a:bodyPr vert="horz" lIns="94749" tIns="47373" rIns="94749" bIns="47373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994" y="9721108"/>
            <a:ext cx="3078427" cy="511731"/>
          </a:xfrm>
          <a:prstGeom prst="rect">
            <a:avLst/>
          </a:prstGeom>
        </p:spPr>
        <p:txBody>
          <a:bodyPr vert="horz" lIns="94749" tIns="47373" rIns="94749" bIns="47373" rtlCol="0" anchor="b"/>
          <a:lstStyle>
            <a:lvl1pPr algn="r">
              <a:defRPr sz="1200"/>
            </a:lvl1pPr>
          </a:lstStyle>
          <a:p>
            <a:fld id="{9E3519E5-025F-4B1C-8C8E-E5E4EA4A6412}" type="slidenum">
              <a:rPr lang="fr-CH" smtClean="0"/>
              <a:pPr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94990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58788" y="719138"/>
            <a:ext cx="6402387" cy="3602037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fr-CH" sz="8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519E5-025F-4B1C-8C8E-E5E4EA4A6412}" type="slidenum">
              <a:rPr lang="fr-CH" smtClean="0"/>
              <a:pPr/>
              <a:t>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02587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57DFB-54D9-3237-38FA-283B0DD11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7DCD94E-6B74-D363-749D-BCDB6F21F6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6763"/>
            <a:ext cx="6824663" cy="3838575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7C713A9-4759-3B0A-3AE2-33F08E7E2E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5A56F57-3B8F-CAB6-A913-7C0151D945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3519E5-025F-4B1C-8C8E-E5E4EA4A6412}" type="slidenum">
              <a:rPr lang="fr-CH" smtClean="0"/>
              <a:pPr/>
              <a:t>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908361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A8952-8EC5-A000-2B1C-6ADA4F7F8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54C59AA-431B-8B45-42EE-9E34286DE2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6763"/>
            <a:ext cx="6824663" cy="3838575"/>
          </a:xfrm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es notes 2">
                <a:extLst>
                  <a:ext uri="{FF2B5EF4-FFF2-40B4-BE49-F238E27FC236}">
                    <a16:creationId xmlns:a16="http://schemas.microsoft.com/office/drawing/2014/main" id="{8B662EDB-FE17-2C96-678B-4B2A953B2D3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fr-FR" dirty="0"/>
                  <a:t>Pour la mise en équation, je me suis appuyée sur le formalisme lagrangien, car il est adapté aux systèmes mécaniques complexes comme le double pendule.</a:t>
                </a:r>
              </a:p>
              <a:p>
                <a:endParaRPr lang="fr-FR" dirty="0"/>
              </a:p>
              <a:p>
                <a:r>
                  <a:rPr lang="fr-FR" dirty="0"/>
                  <a:t>Le </a:t>
                </a:r>
                <a:r>
                  <a:rPr lang="fr-FR" b="1" dirty="0"/>
                  <a:t>Lagrangien</a:t>
                </a:r>
                <a:r>
                  <a:rPr lang="fr-FR" dirty="0"/>
                  <a:t> est une fonction qui décrit un système mécanique à partir de son énergie cinétique </a:t>
                </a:r>
                <a14:m>
                  <m:oMath xmlns:m="http://schemas.openxmlformats.org/officeDocument/2006/math">
                    <m:r>
                      <a:rPr lang="fr-FR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𝑇</m:t>
                    </m:r>
                  </m:oMath>
                </a14:m>
                <a:r>
                  <a:rPr lang="fr-FR" dirty="0"/>
                  <a:t> et de son énergie potentielle </a:t>
                </a:r>
                <a14:m>
                  <m:oMath xmlns:m="http://schemas.openxmlformats.org/officeDocument/2006/math">
                    <m:r>
                      <a:rPr lang="fr-FR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𝑉</m:t>
                    </m:r>
                  </m:oMath>
                </a14:m>
                <a:r>
                  <a:rPr lang="fr-FR" dirty="0"/>
                  <a:t>.</a:t>
                </a:r>
                <a:br>
                  <a:rPr lang="fr-FR" dirty="0"/>
                </a:br>
                <a:r>
                  <a:rPr lang="fr-FR" dirty="0"/>
                  <a:t>Il sert de point de départ aux équations d’Euler–Lagrange pour obtenir les équations du mouvement.</a:t>
                </a:r>
                <a:endParaRPr lang="fr-CH" dirty="0"/>
              </a:p>
              <a:p>
                <a:endParaRPr lang="fr-CH" dirty="0"/>
              </a:p>
              <a:p>
                <a:r>
                  <a:rPr lang="fr-CH" dirty="0"/>
                  <a:t>T = énergie cinétique = dépend vitesse angulaires</a:t>
                </a:r>
              </a:p>
              <a:p>
                <a:r>
                  <a:rPr lang="fr-CH" dirty="0"/>
                  <a:t>V = énergie potentielle = dépend des angles</a:t>
                </a:r>
              </a:p>
            </p:txBody>
          </p:sp>
        </mc:Choice>
        <mc:Fallback>
          <p:sp>
            <p:nvSpPr>
              <p:cNvPr id="3" name="Espace réservé des notes 2">
                <a:extLst>
                  <a:ext uri="{FF2B5EF4-FFF2-40B4-BE49-F238E27FC236}">
                    <a16:creationId xmlns:a16="http://schemas.microsoft.com/office/drawing/2014/main" id="{8B662EDB-FE17-2C96-678B-4B2A953B2D3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fr-FR" dirty="0"/>
                  <a:t>Pour la mise en équation, je me suis appuyée sur le formalisme lagrangien, car il est adapté aux systèmes mécaniques complexes comme le double pendule.</a:t>
                </a:r>
              </a:p>
              <a:p>
                <a:endParaRPr lang="fr-FR" dirty="0"/>
              </a:p>
              <a:p>
                <a:r>
                  <a:rPr lang="fr-FR" dirty="0"/>
                  <a:t>Le </a:t>
                </a:r>
                <a:r>
                  <a:rPr lang="fr-FR" b="1" dirty="0"/>
                  <a:t>Lagrangien</a:t>
                </a:r>
                <a:r>
                  <a:rPr lang="fr-FR" dirty="0"/>
                  <a:t> est une fonction qui décrit un système mécanique à partir de son énergie cinétique </a:t>
                </a:r>
                <a:r>
                  <a:rPr lang="fr-F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𝑇</a:t>
                </a:r>
                <a:r>
                  <a:rPr lang="fr-FR" dirty="0"/>
                  <a:t> et de son énergie potentielle </a:t>
                </a:r>
                <a:r>
                  <a:rPr lang="fr-F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𝑉</a:t>
                </a:r>
                <a:r>
                  <a:rPr lang="fr-FR" dirty="0"/>
                  <a:t>.</a:t>
                </a:r>
                <a:br>
                  <a:rPr lang="fr-FR" dirty="0"/>
                </a:br>
                <a:r>
                  <a:rPr lang="fr-FR" dirty="0"/>
                  <a:t>Il sert de point de départ aux équations d’Euler–Lagrange pour obtenir les équations du mouvement.</a:t>
                </a:r>
                <a:endParaRPr lang="fr-CH" dirty="0"/>
              </a:p>
              <a:p>
                <a:endParaRPr lang="fr-CH" dirty="0"/>
              </a:p>
              <a:p>
                <a:r>
                  <a:rPr lang="fr-CH" dirty="0"/>
                  <a:t>T = énergie cinétique = dépend vitesse angulaires</a:t>
                </a:r>
              </a:p>
              <a:p>
                <a:r>
                  <a:rPr lang="fr-CH" dirty="0"/>
                  <a:t>V = énergie potentielle = dépend des angles</a:t>
                </a:r>
              </a:p>
            </p:txBody>
          </p:sp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AF87EDD-AB88-32DD-83ED-F4DA2297B7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3519E5-025F-4B1C-8C8E-E5E4EA4A6412}" type="slidenum">
              <a:rPr lang="fr-CH" smtClean="0"/>
              <a:pPr/>
              <a:t>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9393763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2F842-941A-1E5A-59BE-A66E3B807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F53FE5E-905D-6B5D-8D7C-59E60C5F97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6763"/>
            <a:ext cx="6824663" cy="3838575"/>
          </a:xfrm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es notes 2">
                <a:extLst>
                  <a:ext uri="{FF2B5EF4-FFF2-40B4-BE49-F238E27FC236}">
                    <a16:creationId xmlns:a16="http://schemas.microsoft.com/office/drawing/2014/main" id="{E94C2BCE-21D7-E3CE-EF76-8F42A624870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fr-CH" dirty="0"/>
                  <a:t>On a parlé de T et V dans la slide précédente, ici la vitesse angulaire correspond à la dérivée 1 et l’accélération angulaire correspond à la dérivée 2</a:t>
                </a:r>
              </a:p>
              <a:p>
                <a:endParaRPr lang="fr-CH" dirty="0"/>
              </a:p>
              <a:p>
                <a:r>
                  <a:rPr lang="fr-CH" dirty="0"/>
                  <a:t>Nous avons ici la formule d’Euler-Lagrange</a:t>
                </a:r>
              </a:p>
              <a:p>
                <a:r>
                  <a:rPr lang="fr-CH" dirty="0"/>
                  <a:t>La formule se lit ainsi: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ar-AE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𝑑</m:t>
                        </m:r>
                      </m:num>
                      <m:den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𝑑𝑡</m:t>
                        </m:r>
                      </m:den>
                    </m:f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⋅</m:t>
                        </m:r>
                      </m:e>
                    </m:d>
                  </m:oMath>
                </a14:m>
                <a:r>
                  <a:rPr lang="en-GB" b="1" dirty="0"/>
                  <a:t> </a:t>
                </a:r>
              </a:p>
              <a:p>
                <a:r>
                  <a:rPr lang="en-GB" b="0" dirty="0"/>
                  <a:t>-</a:t>
                </a:r>
                <a:r>
                  <a:rPr lang="en-GB" b="1" dirty="0"/>
                  <a:t> </a:t>
                </a:r>
                <a:r>
                  <a:rPr lang="fr-CH" dirty="0"/>
                  <a:t>Prend en compte l’évolution temporelle</a:t>
                </a:r>
              </a:p>
              <a:p>
                <a:pPr marL="0" indent="0">
                  <a:buFontTx/>
                  <a:buNone/>
                </a:pPr>
                <a:r>
                  <a:rPr lang="fr-CH" dirty="0"/>
                  <a:t>- Introduit naturellement les accélérations</a:t>
                </a:r>
              </a:p>
              <a:p>
                <a:pPr marL="0" indent="0">
                  <a:buFontTx/>
                  <a:buNone/>
                </a:pPr>
                <a:endParaRPr lang="fr-CH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marL="0" indent="0"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12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ar-AE" sz="12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∂</m:t>
                          </m:r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𝐿</m:t>
                          </m:r>
                        </m:num>
                        <m:den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∂</m:t>
                          </m:r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ar-AE" sz="1200" i="1" kern="1200">
                                      <a:solidFill>
                                        <a:schemeClr val="tx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lang="ar-AE" sz="1200" i="1" kern="1200">
                                      <a:solidFill>
                                        <a:schemeClr val="tx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CH" dirty="0"/>
              </a:p>
              <a:p>
                <a:r>
                  <a:rPr lang="fr-CH" dirty="0"/>
                  <a:t>- </a:t>
                </a:r>
                <a:r>
                  <a:rPr lang="fr-FR" dirty="0"/>
                  <a:t>Lié à la </a:t>
                </a:r>
                <a:r>
                  <a:rPr lang="fr-FR" b="1" dirty="0"/>
                  <a:t>quantité de mouvement généralisée</a:t>
                </a:r>
                <a:endParaRPr lang="fr-FR" dirty="0"/>
              </a:p>
              <a:p>
                <a:pPr marL="0" indent="0">
                  <a:buFontTx/>
                  <a:buNone/>
                </a:pPr>
                <a:r>
                  <a:rPr lang="fr-FR" dirty="0"/>
                  <a:t>- Provient de l’énergie cinétique</a:t>
                </a:r>
              </a:p>
              <a:p>
                <a:pPr marL="171450" indent="-171450">
                  <a:buFontTx/>
                  <a:buChar char="-"/>
                </a:pPr>
                <a:endParaRPr lang="fr-FR" dirty="0"/>
              </a:p>
              <a:p>
                <a:pPr marL="0" indent="0"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CH" sz="1200" kern="1200" smtClean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fr-CH" sz="12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∂</m:t>
                          </m:r>
                          <m:r>
                            <a:rPr lang="fr-CH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𝐿</m:t>
                          </m:r>
                        </m:num>
                        <m:den>
                          <m:r>
                            <a:rPr lang="fr-CH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∂</m:t>
                          </m:r>
                          <m:sSub>
                            <m:sSubPr>
                              <m:ctrlPr>
                                <a:rPr lang="fr-CH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fr-CH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fr-CH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dirty="0"/>
              </a:p>
              <a:p>
                <a:r>
                  <a:rPr lang="fr-FR" dirty="0"/>
                  <a:t>- Terme lié à l’énergie potentielle</a:t>
                </a:r>
              </a:p>
              <a:p>
                <a:r>
                  <a:rPr lang="fr-FR" dirty="0"/>
                  <a:t>- Représente l’effet de la gravité</a:t>
                </a:r>
              </a:p>
              <a:p>
                <a:pPr marL="0" indent="0">
                  <a:buFontTx/>
                  <a:buNone/>
                </a:pPr>
                <a:endParaRPr lang="fr-FR" dirty="0"/>
              </a:p>
              <a:p>
                <a:pPr marL="0" indent="0">
                  <a:buFontTx/>
                  <a:buNone/>
                </a:pPr>
                <a:endParaRPr lang="fr-CH" dirty="0"/>
              </a:p>
              <a:p>
                <a:endParaRPr lang="fr-CH" dirty="0"/>
              </a:p>
            </p:txBody>
          </p:sp>
        </mc:Choice>
        <mc:Fallback>
          <p:sp>
            <p:nvSpPr>
              <p:cNvPr id="3" name="Espace réservé des notes 2">
                <a:extLst>
                  <a:ext uri="{FF2B5EF4-FFF2-40B4-BE49-F238E27FC236}">
                    <a16:creationId xmlns:a16="http://schemas.microsoft.com/office/drawing/2014/main" id="{E94C2BCE-21D7-E3CE-EF76-8F42A624870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fr-CH" dirty="0"/>
                  <a:t>On a parlé de T et V dans la slide précédente, ici la vitesse angulaire correspond à la dérivée 1 et l’accélération angulaire correspond à la dérivée 2</a:t>
                </a:r>
              </a:p>
              <a:p>
                <a:endParaRPr lang="fr-CH" dirty="0"/>
              </a:p>
              <a:p>
                <a:r>
                  <a:rPr lang="fr-CH" dirty="0"/>
                  <a:t>Nous avons ici la formule d’Euler-Lagrange</a:t>
                </a:r>
              </a:p>
              <a:p>
                <a:r>
                  <a:rPr lang="fr-CH" dirty="0"/>
                  <a:t>La formule se lit ainsi: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𝑑/𝑑𝑡 (⋅)</a:t>
                </a:r>
                <a:r>
                  <a:rPr lang="en-GB" b="1" dirty="0"/>
                  <a:t> </a:t>
                </a:r>
              </a:p>
              <a:p>
                <a:r>
                  <a:rPr lang="en-GB" b="0" dirty="0"/>
                  <a:t>-</a:t>
                </a:r>
                <a:r>
                  <a:rPr lang="en-GB" b="1" dirty="0"/>
                  <a:t> </a:t>
                </a:r>
                <a:r>
                  <a:rPr lang="fr-CH" dirty="0"/>
                  <a:t>Prend en compte l’évolution temporelle</a:t>
                </a:r>
              </a:p>
              <a:p>
                <a:pPr marL="0" indent="0">
                  <a:buFontTx/>
                  <a:buNone/>
                </a:pPr>
                <a:r>
                  <a:rPr lang="fr-CH" dirty="0"/>
                  <a:t>- Introduit naturellement les accélérations</a:t>
                </a:r>
              </a:p>
              <a:p>
                <a:pPr marL="0" indent="0">
                  <a:buFontTx/>
                  <a:buNone/>
                </a:pPr>
                <a:endParaRPr lang="fr-CH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marL="0" indent="0">
                  <a:buFontTx/>
                  <a:buNone/>
                </a:pP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∂𝐿/(∂𝜃 ̇_𝑖 )</a:t>
                </a:r>
                <a:endParaRPr lang="fr-CH" dirty="0"/>
              </a:p>
              <a:p>
                <a:r>
                  <a:rPr lang="fr-CH" dirty="0"/>
                  <a:t>- </a:t>
                </a:r>
                <a:r>
                  <a:rPr lang="fr-FR" dirty="0"/>
                  <a:t>Lié à la </a:t>
                </a:r>
                <a:r>
                  <a:rPr lang="fr-FR" b="1" dirty="0"/>
                  <a:t>quantité de mouvement généralisée</a:t>
                </a:r>
                <a:endParaRPr lang="fr-FR" dirty="0"/>
              </a:p>
              <a:p>
                <a:pPr marL="0" indent="0">
                  <a:buFontTx/>
                  <a:buNone/>
                </a:pPr>
                <a:r>
                  <a:rPr lang="fr-FR" dirty="0"/>
                  <a:t>- Provient de l’énergie cinétique</a:t>
                </a:r>
              </a:p>
              <a:p>
                <a:pPr marL="171450" indent="-171450">
                  <a:buFontTx/>
                  <a:buChar char="-"/>
                </a:pPr>
                <a:endParaRPr lang="fr-FR" dirty="0"/>
              </a:p>
              <a:p>
                <a:pPr marL="0" indent="0">
                  <a:buFontTx/>
                  <a:buNone/>
                </a:pPr>
                <a:r>
                  <a:rPr lang="fr-CH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∂𝐿/(∂𝜃_𝑖 )</a:t>
                </a:r>
                <a:endParaRPr lang="fr-FR" dirty="0"/>
              </a:p>
              <a:p>
                <a:r>
                  <a:rPr lang="fr-FR" dirty="0"/>
                  <a:t>- Terme lié à l’énergie potentielle</a:t>
                </a:r>
              </a:p>
              <a:p>
                <a:r>
                  <a:rPr lang="fr-FR" dirty="0"/>
                  <a:t>- Représente l’effet de la gravité</a:t>
                </a:r>
              </a:p>
              <a:p>
                <a:pPr marL="0" indent="0">
                  <a:buFontTx/>
                  <a:buNone/>
                </a:pPr>
                <a:endParaRPr lang="fr-FR" dirty="0"/>
              </a:p>
              <a:p>
                <a:pPr marL="0" indent="0">
                  <a:buFontTx/>
                  <a:buNone/>
                </a:pPr>
                <a:endParaRPr lang="fr-CH" dirty="0"/>
              </a:p>
              <a:p>
                <a:endParaRPr lang="fr-CH" dirty="0"/>
              </a:p>
            </p:txBody>
          </p:sp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12BE95E-6DF8-3F13-7D6D-4F8BDA5263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3519E5-025F-4B1C-8C8E-E5E4EA4A6412}" type="slidenum">
              <a:rPr lang="fr-CH" smtClean="0"/>
              <a:pPr/>
              <a:t>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1068806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F05A8-F0E8-9A42-822B-35A1D913F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460130B-A788-71F8-89D4-8003AC76AE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6763"/>
            <a:ext cx="6824663" cy="3838575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FF1BA3C-74A2-6873-3296-976825379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Mais dans notre cas, l’énergie mécanique dois rester constante dû aux formules lagrangiennes.</a:t>
            </a:r>
          </a:p>
          <a:p>
            <a:endParaRPr lang="fr-CH" dirty="0"/>
          </a:p>
          <a:p>
            <a:r>
              <a:rPr lang="fr-CH" dirty="0"/>
              <a:t>Il peut avoir des légères pertes dû aux arrondis, méthode d’intégration ou la taille du pas de temps.</a:t>
            </a:r>
          </a:p>
          <a:p>
            <a:endParaRPr lang="fr-CH" dirty="0"/>
          </a:p>
          <a:p>
            <a:r>
              <a:rPr lang="fr-CH" dirty="0"/>
              <a:t>[Formule]</a:t>
            </a:r>
          </a:p>
          <a:p>
            <a:r>
              <a:rPr lang="fr-CH" dirty="0"/>
              <a:t>[Explication formule énergie de base]</a:t>
            </a:r>
          </a:p>
          <a:p>
            <a:r>
              <a:rPr lang="fr-FR" dirty="0"/>
              <a:t>Le Hamiltonien représente l’énergie mécanique totale du système.</a:t>
            </a:r>
            <a:br>
              <a:rPr lang="fr-FR" dirty="0"/>
            </a:br>
            <a:r>
              <a:rPr lang="fr-FR" dirty="0"/>
              <a:t>Dans le cas idéal du double pendule, il est conservé et peut être utilisé comme critère pour vérifier la qualité d’une simulation numérique.</a:t>
            </a:r>
            <a:endParaRPr lang="fr-CH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5BF6F70-924B-7A15-FE10-AC3B3976A0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3519E5-025F-4B1C-8C8E-E5E4EA4A6412}" type="slidenum">
              <a:rPr lang="fr-CH" smtClean="0"/>
              <a:pPr/>
              <a:t>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980277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A0178-B1BA-E8ED-2676-441E7DCB0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CA42142-7B0E-AB5D-0330-37589AE88B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6763"/>
            <a:ext cx="6824663" cy="3838575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71AB8F0-E3A1-D5BE-6BEF-FBA1ADB15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7924916-B30F-C546-B7E8-B881EDDB9F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3519E5-025F-4B1C-8C8E-E5E4EA4A6412}" type="slidenum">
              <a:rPr lang="fr-CH" smtClean="0"/>
              <a:pPr/>
              <a:t>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45170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mple 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6"/>
          <p:cNvSpPr>
            <a:spLocks noGrp="1"/>
          </p:cNvSpPr>
          <p:nvPr>
            <p:ph type="body" sz="quarter" idx="13" hasCustomPrompt="1"/>
          </p:nvPr>
        </p:nvSpPr>
        <p:spPr>
          <a:xfrm>
            <a:off x="1007534" y="2420938"/>
            <a:ext cx="10176933" cy="2016125"/>
          </a:xfrm>
        </p:spPr>
        <p:txBody>
          <a:bodyPr>
            <a:normAutofit/>
          </a:bodyPr>
          <a:lstStyle>
            <a:lvl1pPr marL="0" indent="0" algn="l">
              <a:buNone/>
              <a:defRPr sz="7200" baseline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  <a:ea typeface="Roboto Condensed" pitchFamily="2" charset="0"/>
              </a:defRPr>
            </a:lvl1pPr>
            <a:lvl5pPr>
              <a:defRPr/>
            </a:lvl5pPr>
          </a:lstStyle>
          <a:p>
            <a:pPr lvl="0"/>
            <a:r>
              <a:rPr lang="fr-FR" dirty="0" err="1"/>
              <a:t>Demo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CH" dirty="0"/>
          </a:p>
        </p:txBody>
      </p:sp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9BAB171B-C3A4-4557-1E13-20F09DBC30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6E631C47-F2A2-9BB2-DBB1-BE5B1FDF18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26F02FD8-6A90-5053-B217-1C48456468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999714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itre 1"/>
          <p:cNvSpPr>
            <a:spLocks noGrp="1"/>
          </p:cNvSpPr>
          <p:nvPr>
            <p:ph type="title"/>
          </p:nvPr>
        </p:nvSpPr>
        <p:spPr>
          <a:xfrm>
            <a:off x="241003" y="188641"/>
            <a:ext cx="11673937" cy="10073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/>
              <a:t>Modifiez le style du titre</a:t>
            </a:r>
            <a:endParaRPr lang="fr-CH" dirty="0"/>
          </a:p>
        </p:txBody>
      </p:sp>
      <p:sp>
        <p:nvSpPr>
          <p:cNvPr id="23" name="Espace réservé du contenu 22"/>
          <p:cNvSpPr>
            <a:spLocks noGrp="1"/>
          </p:cNvSpPr>
          <p:nvPr>
            <p:ph sz="quarter" idx="10"/>
          </p:nvPr>
        </p:nvSpPr>
        <p:spPr>
          <a:xfrm>
            <a:off x="241004" y="1340768"/>
            <a:ext cx="11687472" cy="4921944"/>
          </a:xfrm>
        </p:spPr>
        <p:txBody>
          <a:bodyPr anchor="ctr"/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H" dirty="0"/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7726B9BA-DE2B-EA9E-FA15-D4404E9E5A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9CD7C1CA-5DDA-E379-EF19-34F7C46C66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6E65DDC2-5C87-092F-F111-65C704A248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676621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-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itre 1"/>
          <p:cNvSpPr>
            <a:spLocks noGrp="1"/>
          </p:cNvSpPr>
          <p:nvPr>
            <p:ph type="title"/>
          </p:nvPr>
        </p:nvSpPr>
        <p:spPr>
          <a:xfrm>
            <a:off x="241003" y="188641"/>
            <a:ext cx="11692292" cy="10073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/>
              <a:t>Modifiez le style du titre</a:t>
            </a:r>
            <a:endParaRPr lang="fr-CH" dirty="0"/>
          </a:p>
        </p:txBody>
      </p:sp>
      <p:sp>
        <p:nvSpPr>
          <p:cNvPr id="23" name="Espace réservé du contenu 22"/>
          <p:cNvSpPr>
            <a:spLocks noGrp="1"/>
          </p:cNvSpPr>
          <p:nvPr>
            <p:ph sz="quarter" idx="10"/>
          </p:nvPr>
        </p:nvSpPr>
        <p:spPr>
          <a:xfrm>
            <a:off x="240920" y="1340768"/>
            <a:ext cx="11705931" cy="4921944"/>
          </a:xfrm>
        </p:spPr>
        <p:txBody>
          <a:bodyPr anchor="ctr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2D1D95-DBC2-4B4A-A24B-91EAEFF949AF}"/>
              </a:ext>
            </a:extLst>
          </p:cNvPr>
          <p:cNvSpPr/>
          <p:nvPr userDrawn="1"/>
        </p:nvSpPr>
        <p:spPr>
          <a:xfrm>
            <a:off x="11825295" y="188641"/>
            <a:ext cx="108000" cy="10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square" lIns="90000" rIns="90000" rtlCol="0" anchor="ctr" anchorCtr="1">
            <a:spAutoFit/>
          </a:bodyPr>
          <a:lstStyle/>
          <a:p>
            <a:pPr marL="383322" marR="0" lvl="0" indent="-293764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45000"/>
              <a:buFontTx/>
              <a:buNone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  <a:defRPr/>
            </a:pPr>
            <a:endParaRPr kumimoji="0" lang="fr-CH" sz="2000" b="1" i="0" u="none" strike="noStrike" kern="1200" cap="none" spc="0" normalizeH="0" baseline="0" noProof="0" dirty="0" err="1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onsolas" pitchFamily="49" charset="0"/>
              <a:ea typeface="+mn-ea"/>
              <a:cs typeface="+mn-cs"/>
            </a:endParaRPr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1403E228-B215-2F68-3633-1BE08E2530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B35D44ED-7585-AB11-FA87-39F627933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23B0277F-C350-AE04-D9D0-88730D5161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19800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itre 1"/>
          <p:cNvSpPr>
            <a:spLocks noGrp="1"/>
          </p:cNvSpPr>
          <p:nvPr>
            <p:ph type="title"/>
          </p:nvPr>
        </p:nvSpPr>
        <p:spPr>
          <a:xfrm>
            <a:off x="241003" y="188641"/>
            <a:ext cx="11692292" cy="10073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/>
              <a:t>Modifiez le style du titre</a:t>
            </a:r>
            <a:endParaRPr lang="fr-CH" dirty="0"/>
          </a:p>
        </p:txBody>
      </p:sp>
      <p:sp>
        <p:nvSpPr>
          <p:cNvPr id="23" name="Espace réservé du contenu 22"/>
          <p:cNvSpPr>
            <a:spLocks noGrp="1"/>
          </p:cNvSpPr>
          <p:nvPr>
            <p:ph sz="quarter" idx="10"/>
          </p:nvPr>
        </p:nvSpPr>
        <p:spPr>
          <a:xfrm>
            <a:off x="240920" y="1340768"/>
            <a:ext cx="11705931" cy="4921944"/>
          </a:xfrm>
        </p:spPr>
        <p:txBody>
          <a:bodyPr anchor="ctr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2D1D95-DBC2-4B4A-A24B-91EAEFF949AF}"/>
              </a:ext>
            </a:extLst>
          </p:cNvPr>
          <p:cNvSpPr/>
          <p:nvPr userDrawn="1"/>
        </p:nvSpPr>
        <p:spPr>
          <a:xfrm>
            <a:off x="11825295" y="188641"/>
            <a:ext cx="108000" cy="10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square" lIns="90000" rIns="90000" rtlCol="0" anchor="ctr" anchorCtr="1">
            <a:spAutoFit/>
          </a:bodyPr>
          <a:lstStyle/>
          <a:p>
            <a:pPr marL="383322" marR="0" lvl="0" indent="-293764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45000"/>
              <a:buFontTx/>
              <a:buNone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  <a:defRPr/>
            </a:pPr>
            <a:endParaRPr kumimoji="0" lang="fr-CH" sz="2000" b="1" i="0" u="none" strike="noStrike" kern="1200" cap="none" spc="0" normalizeH="0" baseline="0" noProof="0" dirty="0" err="1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onsolas" pitchFamily="49" charset="0"/>
              <a:ea typeface="+mn-ea"/>
              <a:cs typeface="+mn-cs"/>
            </a:endParaRPr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1403E228-B215-2F68-3633-1BE08E2530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B35D44ED-7585-AB11-FA87-39F627933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23B0277F-C350-AE04-D9D0-88730D5161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44049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dirty="0"/>
              <a:t>1. Modifiez le style du titre</a:t>
            </a:r>
            <a:endParaRPr lang="fr-CH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7" name="Espace réservé de la date 3">
            <a:extLst>
              <a:ext uri="{FF2B5EF4-FFF2-40B4-BE49-F238E27FC236}">
                <a16:creationId xmlns:a16="http://schemas.microsoft.com/office/drawing/2014/main" id="{C656BEB2-180A-C8F7-9BB2-C8699FD07C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63618DB3-1908-6999-9A6D-FAFA9781C2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FE671695-BB8A-B4E3-0D1D-5DEA929D63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918260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41003" y="1600201"/>
            <a:ext cx="5753397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H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735924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8" name="Espace réservé de la date 3">
            <a:extLst>
              <a:ext uri="{FF2B5EF4-FFF2-40B4-BE49-F238E27FC236}">
                <a16:creationId xmlns:a16="http://schemas.microsoft.com/office/drawing/2014/main" id="{1142E14E-0E00-7ABA-D9F4-7CDB0ACA09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9" name="Espace réservé du pied de page 4">
            <a:extLst>
              <a:ext uri="{FF2B5EF4-FFF2-40B4-BE49-F238E27FC236}">
                <a16:creationId xmlns:a16="http://schemas.microsoft.com/office/drawing/2014/main" id="{4DA66138-192B-D3AD-9DEF-8AC4CB69A2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7614A7C1-6CCB-8716-B8FA-38C157D439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659805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H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10" name="Espace réservé de la date 3">
            <a:extLst>
              <a:ext uri="{FF2B5EF4-FFF2-40B4-BE49-F238E27FC236}">
                <a16:creationId xmlns:a16="http://schemas.microsoft.com/office/drawing/2014/main" id="{57BBE351-0483-947B-013F-B7EAE02FE4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1" name="Espace réservé du pied de page 4">
            <a:extLst>
              <a:ext uri="{FF2B5EF4-FFF2-40B4-BE49-F238E27FC236}">
                <a16:creationId xmlns:a16="http://schemas.microsoft.com/office/drawing/2014/main" id="{77014DB8-3788-828D-4C36-178E3A58C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556BE6F4-0277-69C2-B65D-E415DC90B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3025569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31371" y="332656"/>
            <a:ext cx="11329259" cy="79208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6" name="Espace réservé de la date 3">
            <a:extLst>
              <a:ext uri="{FF2B5EF4-FFF2-40B4-BE49-F238E27FC236}">
                <a16:creationId xmlns:a16="http://schemas.microsoft.com/office/drawing/2014/main" id="{B46E37FB-28C4-8D62-2680-029171FE9B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7" name="Espace réservé du pied de page 4">
            <a:extLst>
              <a:ext uri="{FF2B5EF4-FFF2-40B4-BE49-F238E27FC236}">
                <a16:creationId xmlns:a16="http://schemas.microsoft.com/office/drawing/2014/main" id="{8C462E7F-1B50-6FB3-7AB7-4F4618AAE3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5019A203-79EE-80D4-80BB-FFD8BAEE4E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0149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5E17B71C-EE35-1613-EC9A-D1ECE65899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422B0DF6-21E2-575C-75AF-2B4CE25272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8A8D04BB-8DB8-F380-9DCC-28A242A115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117502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entury Gothic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entury Gothic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entury Gothic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entury Gothic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entury Gothic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entury Gothic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637688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fr-CH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8" name="Espace réservé de la date 3">
            <a:extLst>
              <a:ext uri="{FF2B5EF4-FFF2-40B4-BE49-F238E27FC236}">
                <a16:creationId xmlns:a16="http://schemas.microsoft.com/office/drawing/2014/main" id="{A6D42AA8-4474-229D-9126-17DD8CA4AB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9" name="Espace réservé du pied de page 4">
            <a:extLst>
              <a:ext uri="{FF2B5EF4-FFF2-40B4-BE49-F238E27FC236}">
                <a16:creationId xmlns:a16="http://schemas.microsoft.com/office/drawing/2014/main" id="{15129224-2931-BC25-602B-D7EC62AEDA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233307E3-26A1-8A9E-389D-215E4F05A7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763696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3">
            <a:extLst>
              <a:ext uri="{FF2B5EF4-FFF2-40B4-BE49-F238E27FC236}">
                <a16:creationId xmlns:a16="http://schemas.microsoft.com/office/drawing/2014/main" id="{AEE743D1-2C61-A07D-9920-13DAB7B791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2E122256-3D88-D1A1-F578-340CF4388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8C4E9F1C-4045-7039-DD98-337201C2C8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718170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3">
            <a:extLst>
              <a:ext uri="{FF2B5EF4-FFF2-40B4-BE49-F238E27FC236}">
                <a16:creationId xmlns:a16="http://schemas.microsoft.com/office/drawing/2014/main" id="{BA34519D-2FD7-CB22-D470-8D498335AB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533F5B0F-7697-EF15-F026-3C49AA025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779B7E0C-374B-4F6F-633B-F4DB3248C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62703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5360" y="188640"/>
            <a:ext cx="11523741" cy="79208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6" name="Espace réservé de la date 3">
            <a:extLst>
              <a:ext uri="{FF2B5EF4-FFF2-40B4-BE49-F238E27FC236}">
                <a16:creationId xmlns:a16="http://schemas.microsoft.com/office/drawing/2014/main" id="{FC3937F0-C33D-2B51-679F-7A27A81A4C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7" name="Espace réservé du pied de page 4">
            <a:extLst>
              <a:ext uri="{FF2B5EF4-FFF2-40B4-BE49-F238E27FC236}">
                <a16:creationId xmlns:a16="http://schemas.microsoft.com/office/drawing/2014/main" id="{E10A22BA-24E0-84FB-8ABB-B553D6FE13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95DD96A9-C072-6A50-E9CA-7B0F58E1B2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117571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_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itre 1"/>
          <p:cNvSpPr>
            <a:spLocks noGrp="1"/>
          </p:cNvSpPr>
          <p:nvPr>
            <p:ph type="title"/>
          </p:nvPr>
        </p:nvSpPr>
        <p:spPr>
          <a:xfrm>
            <a:off x="241003" y="188641"/>
            <a:ext cx="11692292" cy="10073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/>
              <a:t>Modifiez le style du titre</a:t>
            </a:r>
            <a:endParaRPr lang="fr-CH" dirty="0"/>
          </a:p>
        </p:txBody>
      </p:sp>
      <p:sp>
        <p:nvSpPr>
          <p:cNvPr id="23" name="Espace réservé du contenu 22"/>
          <p:cNvSpPr>
            <a:spLocks noGrp="1"/>
          </p:cNvSpPr>
          <p:nvPr>
            <p:ph sz="quarter" idx="10"/>
          </p:nvPr>
        </p:nvSpPr>
        <p:spPr>
          <a:xfrm>
            <a:off x="240920" y="1340768"/>
            <a:ext cx="11705931" cy="4921944"/>
          </a:xfrm>
        </p:spPr>
        <p:txBody>
          <a:bodyPr anchor="ctr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2D1D95-DBC2-4B4A-A24B-91EAEFF949AF}"/>
              </a:ext>
            </a:extLst>
          </p:cNvPr>
          <p:cNvSpPr/>
          <p:nvPr userDrawn="1"/>
        </p:nvSpPr>
        <p:spPr>
          <a:xfrm>
            <a:off x="11825295" y="188641"/>
            <a:ext cx="108000" cy="10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square" lIns="90000" rIns="90000" rtlCol="0" anchor="ctr" anchorCtr="1">
            <a:spAutoFit/>
          </a:bodyPr>
          <a:lstStyle/>
          <a:p>
            <a:pPr marL="383322" marR="0" lvl="0" indent="-293764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45000"/>
              <a:buFontTx/>
              <a:buNone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  <a:defRPr/>
            </a:pPr>
            <a:endParaRPr kumimoji="0" lang="fr-CH" sz="2000" b="1" i="0" u="none" strike="noStrike" kern="1200" cap="none" spc="0" normalizeH="0" baseline="0" noProof="0" dirty="0" err="1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onsolas" pitchFamily="49" charset="0"/>
              <a:ea typeface="+mn-ea"/>
              <a:cs typeface="+mn-cs"/>
            </a:endParaRPr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1403E228-B215-2F68-3633-1BE08E2530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B35D44ED-7585-AB11-FA87-39F627933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23B0277F-C350-AE04-D9D0-88730D5161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269412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241003" y="260648"/>
            <a:ext cx="11692521" cy="7920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/>
              <a:t>Cliquez pour modifier le style du titre</a:t>
            </a:r>
            <a:endParaRPr lang="fr-CH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41003" y="1196752"/>
            <a:ext cx="11692522" cy="5062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H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LID4096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Dr P.-A. Mudry</a:t>
            </a:r>
            <a:endParaRPr kumimoji="0" lang="fr-CH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48667" y="6520260"/>
            <a:ext cx="3860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1. Demo course</a:t>
            </a: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9088725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040C7-4060-4381-887A-2EF827EF70EC}" type="slidenum">
              <a:rPr kumimoji="0" lang="fr-CH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CH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22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3600" b="1" i="0" kern="1200">
          <a:solidFill>
            <a:schemeClr val="accent5">
              <a:lumMod val="50000"/>
            </a:schemeClr>
          </a:solidFill>
          <a:latin typeface="Century Gothic" panose="020B0502020202020204" pitchFamily="34" charset="0"/>
          <a:ea typeface="Open Sans" pitchFamily="2" charset="0"/>
          <a:cs typeface="Open Sans" pitchFamily="2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>
            <a:lumMod val="75000"/>
          </a:schemeClr>
        </a:buClr>
        <a:buSzPct val="50000"/>
        <a:buFont typeface="Inter Light" panose="02000503000000020004" pitchFamily="2" charset="0"/>
        <a:buChar char="►"/>
        <a:defRPr sz="36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>
            <a:lumMod val="75000"/>
          </a:schemeClr>
        </a:buClr>
        <a:buFont typeface="Wingdings 3" pitchFamily="18" charset="2"/>
        <a:buChar char=""/>
        <a:defRPr sz="36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3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>
            <a:lumMod val="75000"/>
          </a:schemeClr>
        </a:buClr>
        <a:buFont typeface="Arial" pitchFamily="34" charset="0"/>
        <a:buChar char="–"/>
        <a:defRPr sz="2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>
            <a:lumMod val="75000"/>
          </a:schemeClr>
        </a:buClr>
        <a:buFont typeface="Arial" pitchFamily="34" charset="0"/>
        <a:buChar char="»"/>
        <a:defRPr sz="2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F79EE6-74B4-B586-A262-974F141C1300}"/>
              </a:ext>
            </a:extLst>
          </p:cNvPr>
          <p:cNvSpPr txBox="1"/>
          <p:nvPr/>
        </p:nvSpPr>
        <p:spPr>
          <a:xfrm>
            <a:off x="983432" y="2721114"/>
            <a:ext cx="72541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rPr>
              <a:t>Double pendule</a:t>
            </a:r>
          </a:p>
        </p:txBody>
      </p:sp>
      <p:pic>
        <p:nvPicPr>
          <p:cNvPr id="11" name="Picture 10" descr="A black and white text&#10;&#10;AI-generated content may be incorrect.">
            <a:extLst>
              <a:ext uri="{FF2B5EF4-FFF2-40B4-BE49-F238E27FC236}">
                <a16:creationId xmlns:a16="http://schemas.microsoft.com/office/drawing/2014/main" id="{2E11D006-07D4-D9FD-B827-1A86E14A34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0021" y="204511"/>
            <a:ext cx="4724015" cy="83081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99ABB-7846-8388-8605-9AF93B146BDA}"/>
              </a:ext>
            </a:extLst>
          </p:cNvPr>
          <p:cNvSpPr txBox="1">
            <a:spLocks/>
          </p:cNvSpPr>
          <p:nvPr/>
        </p:nvSpPr>
        <p:spPr>
          <a:xfrm>
            <a:off x="497570" y="3789040"/>
            <a:ext cx="11143046" cy="64807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SzPct val="50000"/>
              <a:buFont typeface="Inter Light" panose="02000503000000020004" pitchFamily="2" charset="0"/>
              <a:buChar char="►"/>
              <a:defRPr sz="36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 3" pitchFamily="18" charset="2"/>
              <a:buChar char=""/>
              <a:defRPr sz="36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»"/>
              <a:defRPr sz="2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chemeClr val="accent2"/>
              </a:buClr>
              <a:buSzPct val="80000"/>
              <a:buNone/>
            </a:pPr>
            <a:r>
              <a:rPr lang="fr-CH" sz="2400" b="1" i="1" u="sng" dirty="0"/>
              <a:t>Maroua Zanad</a:t>
            </a:r>
            <a:endParaRPr lang="fr-CH" sz="2400" i="1" dirty="0"/>
          </a:p>
        </p:txBody>
      </p:sp>
    </p:spTree>
    <p:extLst>
      <p:ext uri="{BB962C8B-B14F-4D97-AF65-F5344CB8AC3E}">
        <p14:creationId xmlns:p14="http://schemas.microsoft.com/office/powerpoint/2010/main" val="119865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7360"/>
    </mc:Choice>
    <mc:Fallback xmlns="">
      <p:transition advTm="1736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FBABE-983E-B7D5-3526-52EE64842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C19ED-14BA-9CE2-8784-047386E47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>
                <a:solidFill>
                  <a:srgbClr val="215968"/>
                </a:solidFill>
              </a:rPr>
              <a:t>Double</a:t>
            </a:r>
            <a:r>
              <a:rPr lang="fr-CH" dirty="0"/>
              <a:t> pendule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92B49-69B3-F49F-629D-8D67CB531E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570" y="1393312"/>
            <a:ext cx="11143046" cy="4916008"/>
          </a:xfrm>
        </p:spPr>
        <p:txBody>
          <a:bodyPr>
            <a:normAutofit/>
          </a:bodyPr>
          <a:lstStyle/>
          <a:p>
            <a:pPr>
              <a:buClr>
                <a:schemeClr val="accent2"/>
              </a:buClr>
              <a:buSzPct val="100000"/>
              <a:buFontTx/>
              <a:buChar char="-"/>
            </a:pPr>
            <a:r>
              <a:rPr lang="fr-CH" sz="2000" b="1" dirty="0"/>
              <a:t>Connu aussi sous le nom de pendule chaotique</a:t>
            </a:r>
          </a:p>
          <a:p>
            <a:pPr>
              <a:buClr>
                <a:schemeClr val="accent2"/>
              </a:buClr>
              <a:buSzPct val="100000"/>
              <a:buFontTx/>
              <a:buChar char="-"/>
            </a:pPr>
            <a:r>
              <a:rPr lang="fr-CH" sz="2000" b="1" dirty="0"/>
              <a:t>Déterministe d’après les lois de Newton ou la formulation </a:t>
            </a:r>
            <a:r>
              <a:rPr lang="fr-CH" sz="2000" b="1" dirty="0" err="1"/>
              <a:t>Lagrangian</a:t>
            </a:r>
            <a:r>
              <a:rPr lang="fr-CH" sz="2000" b="1" dirty="0"/>
              <a:t>)</a:t>
            </a:r>
          </a:p>
          <a:p>
            <a:pPr>
              <a:buClr>
                <a:schemeClr val="accent2"/>
              </a:buClr>
              <a:buSzPct val="100000"/>
              <a:buFontTx/>
              <a:buChar char="-"/>
            </a:pPr>
            <a:r>
              <a:rPr lang="fr-CH" sz="2000" b="1" dirty="0"/>
              <a:t>Sensible aux conditions initiales</a:t>
            </a:r>
          </a:p>
          <a:p>
            <a:pPr lvl="1">
              <a:buClr>
                <a:schemeClr val="accent2"/>
              </a:buClr>
              <a:buSzPct val="100000"/>
              <a:buFontTx/>
              <a:buChar char="-"/>
            </a:pPr>
            <a:r>
              <a:rPr lang="fr-CH" sz="2000" b="1" dirty="0"/>
              <a:t>Petits changements d’angles ou de vélocités</a:t>
            </a:r>
            <a:br>
              <a:rPr lang="fr-CH" sz="2000" b="1" dirty="0"/>
            </a:br>
            <a:r>
              <a:rPr lang="fr-CH" sz="2000" b="1" dirty="0"/>
              <a:t>donnent des trajectoires très différentes</a:t>
            </a:r>
          </a:p>
          <a:p>
            <a:pPr>
              <a:buClr>
                <a:schemeClr val="accent2"/>
              </a:buClr>
              <a:buSzPct val="100000"/>
              <a:buFont typeface="Wingdings" panose="05000000000000000000" pitchFamily="2" charset="2"/>
              <a:buChar char="à"/>
            </a:pPr>
            <a:r>
              <a:rPr lang="fr-CH" sz="2000" b="1" dirty="0">
                <a:sym typeface="Wingdings" panose="05000000000000000000" pitchFamily="2" charset="2"/>
              </a:rPr>
              <a:t>Chaos déterministe</a:t>
            </a:r>
          </a:p>
          <a:p>
            <a:pPr lvl="1">
              <a:buClr>
                <a:schemeClr val="accent2"/>
              </a:buClr>
              <a:buSzPct val="100000"/>
              <a:buFont typeface="Wingdings" panose="05000000000000000000" pitchFamily="2" charset="2"/>
              <a:buChar char="à"/>
            </a:pPr>
            <a:r>
              <a:rPr lang="fr-CH" sz="2000" b="1" dirty="0"/>
              <a:t>Régi par des lois exactes mais évolution imprévisible à long terme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88D84E-B5FC-E494-125E-2F3BA61E49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3C040C7-4060-4381-887A-2EF827EF70EC}" type="slidenum">
              <a:rPr lang="fr-CH" smtClean="0"/>
              <a:pPr/>
              <a:t>2</a:t>
            </a:fld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FF285-7F0A-15CA-1A05-06B829B48E0B}"/>
              </a:ext>
            </a:extLst>
          </p:cNvPr>
          <p:cNvSpPr txBox="1">
            <a:spLocks/>
          </p:cNvSpPr>
          <p:nvPr/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SzPct val="50000"/>
              <a:buFont typeface="Inter Light" panose="02000503000000020004" pitchFamily="2" charset="0"/>
              <a:buChar char="►"/>
              <a:defRPr sz="2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 3" pitchFamily="18" charset="2"/>
              <a:buChar char=""/>
              <a:defRPr sz="24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fr-CH" sz="10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ProbStatIT</a:t>
            </a:r>
            <a:endParaRPr lang="fr-CH" sz="1000" dirty="0">
              <a:solidFill>
                <a:prstClr val="black">
                  <a:lumMod val="65000"/>
                  <a:lumOff val="35000"/>
                </a:prst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5" name="Picture 4" descr="A black and white text&#10;&#10;AI-generated content may be incorrect.">
            <a:extLst>
              <a:ext uri="{FF2B5EF4-FFF2-40B4-BE49-F238E27FC236}">
                <a16:creationId xmlns:a16="http://schemas.microsoft.com/office/drawing/2014/main" id="{3AA34E42-929D-15DD-9D6E-1A41ED4E9C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0021" y="204511"/>
            <a:ext cx="4724015" cy="8308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96F97D-D0C8-05E0-0D17-6A858C525A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975" y="0"/>
            <a:ext cx="53080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930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F7305-4930-43D7-B08F-18A09230A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974A2-7C37-4328-F8C6-1084D5EA2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>
                <a:solidFill>
                  <a:srgbClr val="215968"/>
                </a:solidFill>
              </a:rPr>
              <a:t>Lagrange</a:t>
            </a:r>
            <a:endParaRPr lang="en-US" dirty="0">
              <a:solidFill>
                <a:srgbClr val="215968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456E7E-7A52-6A52-5FC2-509068721B3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97570" y="1393312"/>
                <a:ext cx="11143046" cy="4916008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accent2"/>
                  </a:buClr>
                  <a:buSzPct val="100000"/>
                  <a:buFontTx/>
                  <a:buChar char="-"/>
                </a:pPr>
                <a:r>
                  <a:rPr lang="fr-CH" sz="2000" b="1" dirty="0"/>
                  <a:t>Reformulation des lois de Newton</a:t>
                </a:r>
              </a:p>
              <a:p>
                <a:pPr>
                  <a:buClr>
                    <a:schemeClr val="accent2"/>
                  </a:buClr>
                  <a:buSzPct val="100000"/>
                  <a:buFontTx/>
                  <a:buChar char="-"/>
                </a:pPr>
                <a:r>
                  <a:rPr lang="fr-CH" sz="2000" b="1" dirty="0"/>
                  <a:t>Permet d’avoir facilement les équations du mouvement d’un système complexe sans analyser chaque force séparément</a:t>
                </a:r>
              </a:p>
              <a:p>
                <a:pPr>
                  <a:buClr>
                    <a:schemeClr val="accent2"/>
                  </a:buClr>
                  <a:buSzPct val="100000"/>
                  <a:buFontTx/>
                  <a:buChar char="-"/>
                </a:pPr>
                <a:endParaRPr lang="fr-CH" sz="1200" b="1" dirty="0"/>
              </a:p>
              <a:p>
                <a:pPr marL="0" indent="0">
                  <a:buClr>
                    <a:schemeClr val="accent2"/>
                  </a:buClr>
                  <a:buSzPct val="100000"/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600" b="1" i="1" smtClean="0"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GB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1" i="1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GB" sz="3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3600" b="1" i="1" smtClean="0">
                          <a:latin typeface="Cambria Math" panose="02040503050406030204" pitchFamily="18" charset="0"/>
                        </a:rPr>
                        <m:t>𝑽</m:t>
                      </m:r>
                    </m:oMath>
                  </m:oMathPara>
                </a14:m>
                <a:endParaRPr lang="fr-CH" sz="3600" b="1" dirty="0"/>
              </a:p>
              <a:p>
                <a:pPr marL="0" indent="0">
                  <a:buClr>
                    <a:schemeClr val="accent2"/>
                  </a:buClr>
                  <a:buSzPct val="100000"/>
                  <a:buNone/>
                </a:pPr>
                <a:endParaRPr lang="fr-CH" sz="2000" b="1" dirty="0"/>
              </a:p>
              <a:p>
                <a:pPr lvl="1">
                  <a:buClr>
                    <a:schemeClr val="accent2"/>
                  </a:buClr>
                  <a:buSzPct val="100000"/>
                  <a:buFontTx/>
                  <a:buChar char="-"/>
                </a:pPr>
                <a:endParaRPr lang="fr-CH" sz="1200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456E7E-7A52-6A52-5FC2-509068721B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97570" y="1393312"/>
                <a:ext cx="11143046" cy="4916008"/>
              </a:xfrm>
              <a:blipFill>
                <a:blip r:embed="rId3"/>
                <a:stretch>
                  <a:fillRect l="-766"/>
                </a:stretch>
              </a:blipFill>
            </p:spPr>
            <p:txBody>
              <a:bodyPr/>
              <a:lstStyle/>
              <a:p>
                <a:r>
                  <a:rPr lang="fr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CF25A7-716C-6D39-63BD-D0FACB047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3C040C7-4060-4381-887A-2EF827EF70EC}" type="slidenum">
              <a:rPr lang="fr-CH" smtClean="0"/>
              <a:pPr/>
              <a:t>3</a:t>
            </a:fld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EBD63-BAAC-DB7C-358E-A6ED2F674008}"/>
              </a:ext>
            </a:extLst>
          </p:cNvPr>
          <p:cNvSpPr txBox="1">
            <a:spLocks/>
          </p:cNvSpPr>
          <p:nvPr/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SzPct val="50000"/>
              <a:buFont typeface="Inter Light" panose="02000503000000020004" pitchFamily="2" charset="0"/>
              <a:buChar char="►"/>
              <a:defRPr sz="2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 3" pitchFamily="18" charset="2"/>
              <a:buChar char=""/>
              <a:defRPr sz="24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fr-CH" sz="10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ProbStatIT</a:t>
            </a:r>
            <a:endParaRPr lang="fr-CH" sz="1000" dirty="0">
              <a:solidFill>
                <a:prstClr val="black">
                  <a:lumMod val="65000"/>
                  <a:lumOff val="35000"/>
                </a:prst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5" name="Picture 4" descr="A black and white text&#10;&#10;AI-generated content may be incorrect.">
            <a:extLst>
              <a:ext uri="{FF2B5EF4-FFF2-40B4-BE49-F238E27FC236}">
                <a16:creationId xmlns:a16="http://schemas.microsoft.com/office/drawing/2014/main" id="{44E70B8E-9D8B-2577-12DA-91799F57137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0021" y="204511"/>
            <a:ext cx="4724015" cy="830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231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4F294-5FF1-9831-8E67-F10DF4D6E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4A667-A634-46C8-E665-C82D29275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>
                <a:solidFill>
                  <a:srgbClr val="215968"/>
                </a:solidFill>
              </a:rPr>
              <a:t>Euler-Lagrange</a:t>
            </a:r>
            <a:endParaRPr lang="en-US" dirty="0">
              <a:solidFill>
                <a:srgbClr val="215968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11A8F7-4C51-ACE8-141E-F08EC0C328C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97570" y="1393312"/>
                <a:ext cx="11143046" cy="4916008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accent2"/>
                  </a:buClr>
                  <a:buSzPct val="100000"/>
                  <a:buFontTx/>
                  <a:buChar char="-"/>
                </a:pPr>
                <a:r>
                  <a:rPr lang="en-GB" sz="2000" b="1" dirty="0"/>
                  <a:t>Permet de determiner les </a:t>
                </a:r>
                <a:r>
                  <a:rPr lang="en-GB" sz="2000" b="1" dirty="0" err="1"/>
                  <a:t>équations</a:t>
                </a:r>
                <a:r>
                  <a:rPr lang="en-GB" sz="2000" b="1" dirty="0"/>
                  <a:t> de movement d’un </a:t>
                </a:r>
                <a:r>
                  <a:rPr lang="en-GB" sz="2000" b="1" dirty="0" err="1"/>
                  <a:t>système</a:t>
                </a:r>
                <a:r>
                  <a:rPr lang="en-GB" sz="2000" b="1" dirty="0"/>
                  <a:t> </a:t>
                </a:r>
                <a:r>
                  <a:rPr lang="en-GB" sz="2000" b="1" dirty="0" err="1"/>
                  <a:t>mécanique</a:t>
                </a:r>
                <a:endParaRPr lang="en-GB" sz="2000" b="1" dirty="0"/>
              </a:p>
              <a:p>
                <a:pPr>
                  <a:buClr>
                    <a:schemeClr val="accent2"/>
                  </a:buClr>
                  <a:buSzPct val="100000"/>
                  <a:buFontTx/>
                  <a:buChar char="-"/>
                </a:pPr>
                <a:r>
                  <a:rPr lang="en-GB" sz="2000" b="1" dirty="0"/>
                  <a:t>Se base sur les </a:t>
                </a:r>
                <a:r>
                  <a:rPr lang="en-GB" sz="2000" b="1" dirty="0" err="1"/>
                  <a:t>énergies</a:t>
                </a:r>
                <a:r>
                  <a:rPr lang="en-GB" sz="2000" b="1" dirty="0"/>
                  <a:t> (</a:t>
                </a:r>
                <a:r>
                  <a:rPr lang="en-GB" sz="2000" b="1" dirty="0" err="1"/>
                  <a:t>cinétique</a:t>
                </a:r>
                <a:r>
                  <a:rPr lang="en-GB" sz="2000" b="1" dirty="0"/>
                  <a:t> et </a:t>
                </a:r>
                <a:r>
                  <a:rPr lang="en-GB" sz="2000" b="1" dirty="0" err="1"/>
                  <a:t>potentielle</a:t>
                </a:r>
                <a:r>
                  <a:rPr lang="en-GB" sz="2000" b="1" dirty="0"/>
                  <a:t>)</a:t>
                </a:r>
              </a:p>
              <a:p>
                <a:pPr>
                  <a:buClr>
                    <a:schemeClr val="accent2"/>
                  </a:buClr>
                  <a:buSzPct val="100000"/>
                  <a:buFontTx/>
                  <a:buChar char="-"/>
                </a:pPr>
                <a:r>
                  <a:rPr lang="en-GB" sz="2000" b="1" dirty="0"/>
                  <a:t>Utilise le </a:t>
                </a:r>
                <a:r>
                  <a:rPr lang="en-GB" sz="2000" b="1" dirty="0" err="1"/>
                  <a:t>principe</a:t>
                </a:r>
                <a:r>
                  <a:rPr lang="en-GB" sz="2000" b="1" dirty="0"/>
                  <a:t> de </a:t>
                </a:r>
                <a:r>
                  <a:rPr lang="en-GB" sz="2000" b="1" dirty="0" err="1"/>
                  <a:t>moindre</a:t>
                </a:r>
                <a:r>
                  <a:rPr lang="en-GB" sz="2000" b="1" dirty="0"/>
                  <a:t> action</a:t>
                </a:r>
                <a:endParaRPr lang="fr-CH" sz="3600" b="1" dirty="0"/>
              </a:p>
              <a:p>
                <a:pPr marL="0" indent="0">
                  <a:buClr>
                    <a:schemeClr val="accent2"/>
                  </a:buClr>
                  <a:buSzPct val="100000"/>
                  <a:buNone/>
                </a:pPr>
                <a:endParaRPr lang="fr-CH" sz="3600" b="1" dirty="0"/>
              </a:p>
              <a:p>
                <a:pPr marL="0" indent="0" algn="ctr">
                  <a:buClr>
                    <a:schemeClr val="accent2"/>
                  </a:buClr>
                  <a:buSzPct val="100000"/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fr-CH" sz="3600" b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H" sz="3600" b="1" dirty="0">
                            <a:latin typeface="Cambria Math" panose="02040503050406030204" pitchFamily="18" charset="0"/>
                          </a:rPr>
                          <m:t>ⅆ</m:t>
                        </m:r>
                      </m:num>
                      <m:den>
                        <m:r>
                          <a:rPr lang="fr-CH" sz="3600" b="1" i="0" dirty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fr-CH" sz="3600" b="1" i="1" dirty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d>
                      <m:dPr>
                        <m:ctrlPr>
                          <a:rPr lang="fr-CH" sz="36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fr-CH" sz="3600" b="1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CH" sz="3600" b="1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fr-CH" sz="3600" b="1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fr-CH" sz="3600" b="1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sSub>
                              <m:sSubPr>
                                <m:ctrlPr>
                                  <a:rPr lang="fr-CH" sz="36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̇"/>
                                    <m:ctrlPr>
                                      <a:rPr lang="fr-CH" sz="3600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CH" sz="3600" b="1" i="1" dirty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fr-CH" sz="3600" b="1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fr-CH" sz="3600" b="1" i="0" dirty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fr-CH" sz="3600" b="1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H" sz="3600" b="1" i="1" dirty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fr-CH" sz="3600" b="1" i="1" dirty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fr-CH" sz="3600" b="1" i="1" dirty="0">
                            <a:latin typeface="Cambria Math" panose="02040503050406030204" pitchFamily="18" charset="0"/>
                          </a:rPr>
                          <m:t>𝜃</m:t>
                        </m:r>
                        <m:sSub>
                          <m:sSubPr>
                            <m:ctrlPr>
                              <a:rPr lang="fr-CH" sz="36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H" sz="3600" b="1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CH" sz="3600" b="1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fr-CH" sz="3600" b="1" i="0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fr-CH" sz="3600" b="1" dirty="0"/>
                  <a:t>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CH" sz="3600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H" sz="3600" b="1" i="1" dirty="0" smtClean="0">
                            <a:latin typeface="Cambria Math" panose="02040503050406030204" pitchFamily="18" charset="0"/>
                          </a:rPr>
                          <m:t>ⅈ=1,2</m:t>
                        </m:r>
                      </m:e>
                    </m:d>
                  </m:oMath>
                </a14:m>
                <a:endParaRPr lang="fr-CH" sz="3600" b="1" dirty="0"/>
              </a:p>
              <a:p>
                <a:pPr marL="0" indent="0">
                  <a:buClr>
                    <a:schemeClr val="accent2"/>
                  </a:buClr>
                  <a:buSzPct val="100000"/>
                  <a:buNone/>
                </a:pPr>
                <a:endParaRPr lang="fr-CH" sz="1200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11A8F7-4C51-ACE8-141E-F08EC0C328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97570" y="1393312"/>
                <a:ext cx="11143046" cy="4916008"/>
              </a:xfrm>
              <a:blipFill>
                <a:blip r:embed="rId3"/>
                <a:stretch>
                  <a:fillRect l="-766"/>
                </a:stretch>
              </a:blipFill>
            </p:spPr>
            <p:txBody>
              <a:bodyPr/>
              <a:lstStyle/>
              <a:p>
                <a:r>
                  <a:rPr lang="fr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1CDDA9-BD84-9B43-F960-CF0F9045AE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3C040C7-4060-4381-887A-2EF827EF70EC}" type="slidenum">
              <a:rPr lang="fr-CH" smtClean="0"/>
              <a:pPr/>
              <a:t>4</a:t>
            </a:fld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1C17B-F318-1584-D8F8-3118A6F87E80}"/>
              </a:ext>
            </a:extLst>
          </p:cNvPr>
          <p:cNvSpPr txBox="1">
            <a:spLocks/>
          </p:cNvSpPr>
          <p:nvPr/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SzPct val="50000"/>
              <a:buFont typeface="Inter Light" panose="02000503000000020004" pitchFamily="2" charset="0"/>
              <a:buChar char="►"/>
              <a:defRPr sz="2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 3" pitchFamily="18" charset="2"/>
              <a:buChar char=""/>
              <a:defRPr sz="24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fr-CH" sz="10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ProbStatIT</a:t>
            </a:r>
            <a:endParaRPr lang="fr-CH" sz="1000" dirty="0">
              <a:solidFill>
                <a:prstClr val="black">
                  <a:lumMod val="65000"/>
                  <a:lumOff val="35000"/>
                </a:prst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5" name="Picture 4" descr="A black and white text&#10;&#10;AI-generated content may be incorrect.">
            <a:extLst>
              <a:ext uri="{FF2B5EF4-FFF2-40B4-BE49-F238E27FC236}">
                <a16:creationId xmlns:a16="http://schemas.microsoft.com/office/drawing/2014/main" id="{79D1F1D1-D008-5BC3-1D50-AFFCBC85518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0021" y="204511"/>
            <a:ext cx="4724015" cy="830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0831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52271-8544-4B67-11DA-65A50737A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CE5E-FE49-F744-1D9C-D431B5B31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>
                <a:solidFill>
                  <a:srgbClr val="215968"/>
                </a:solidFill>
              </a:rPr>
              <a:t>Energie</a:t>
            </a:r>
            <a:endParaRPr lang="en-US" dirty="0">
              <a:solidFill>
                <a:srgbClr val="215968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8A6D9F-0D04-4C9E-CC58-704FC06105E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97570" y="1393312"/>
                <a:ext cx="11143046" cy="4916008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accent2"/>
                  </a:buClr>
                  <a:buSzPct val="100000"/>
                  <a:buFontTx/>
                  <a:buChar char="-"/>
                </a:pPr>
                <a:r>
                  <a:rPr lang="fr-CH" sz="2000" b="1" dirty="0"/>
                  <a:t>Le pendule double est idéalement conservateur</a:t>
                </a:r>
              </a:p>
              <a:p>
                <a:pPr>
                  <a:buClr>
                    <a:schemeClr val="accent2"/>
                  </a:buClr>
                  <a:buSzPct val="100000"/>
                  <a:buFontTx/>
                  <a:buChar char="-"/>
                </a:pPr>
                <a:r>
                  <a:rPr lang="en-GB" sz="2000" b="1" dirty="0"/>
                  <a:t>⚠️ </a:t>
                </a:r>
                <a:r>
                  <a:rPr lang="en-GB" sz="2000" b="1" dirty="0" err="1"/>
                  <a:t>en</a:t>
                </a:r>
                <a:r>
                  <a:rPr lang="en-GB" sz="2000" b="1" dirty="0"/>
                  <a:t> </a:t>
                </a:r>
                <a:r>
                  <a:rPr lang="en-GB" sz="2000" b="1" dirty="0" err="1"/>
                  <a:t>réalité</a:t>
                </a:r>
                <a:r>
                  <a:rPr lang="en-GB" sz="2000" b="1" dirty="0"/>
                  <a:t>, des </a:t>
                </a:r>
                <a:r>
                  <a:rPr lang="en-GB" sz="2000" b="1" dirty="0" err="1"/>
                  <a:t>pertes</a:t>
                </a:r>
                <a:r>
                  <a:rPr lang="en-GB" sz="2000" b="1" dirty="0"/>
                  <a:t> </a:t>
                </a:r>
                <a:r>
                  <a:rPr lang="en-GB" sz="2000" b="1" dirty="0" err="1"/>
                  <a:t>peuvent</a:t>
                </a:r>
                <a:r>
                  <a:rPr lang="en-GB" sz="2000" b="1" dirty="0"/>
                  <a:t> </a:t>
                </a:r>
                <a:r>
                  <a:rPr lang="en-GB" sz="2000" b="1" dirty="0" err="1"/>
                  <a:t>apparaître</a:t>
                </a:r>
                <a:r>
                  <a:rPr lang="en-GB" sz="2000" b="1" dirty="0"/>
                  <a:t> (</a:t>
                </a:r>
                <a:r>
                  <a:rPr lang="en-GB" sz="2000" b="1" dirty="0" err="1"/>
                  <a:t>frottement</a:t>
                </a:r>
                <a:r>
                  <a:rPr lang="en-GB" sz="2000" b="1" dirty="0"/>
                  <a:t>, …)</a:t>
                </a:r>
              </a:p>
              <a:p>
                <a:pPr>
                  <a:buClr>
                    <a:schemeClr val="accent2"/>
                  </a:buClr>
                  <a:buSzPct val="100000"/>
                  <a:buFontTx/>
                  <a:buChar char="-"/>
                </a:pPr>
                <a:r>
                  <a:rPr lang="fr-FR" sz="2000" b="1" dirty="0"/>
                  <a:t>Malgré la conservation de l’énergie, le mouvement du double pendule peut devenir chaotique à cause de la non-linéarité des équations du mouvement.</a:t>
                </a:r>
                <a:endParaRPr lang="fr-CH" sz="2000" b="1" dirty="0"/>
              </a:p>
              <a:p>
                <a:pPr>
                  <a:buClr>
                    <a:schemeClr val="accent2"/>
                  </a:buClr>
                  <a:buSzPct val="100000"/>
                  <a:buFontTx/>
                  <a:buChar char="-"/>
                </a:pPr>
                <a:endParaRPr lang="fr-CH" sz="2000" b="1" dirty="0"/>
              </a:p>
              <a:p>
                <a:pPr marL="0" indent="0">
                  <a:buClr>
                    <a:schemeClr val="accent2"/>
                  </a:buClr>
                  <a:buSzPct val="1000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H" sz="3600" b="1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fr-CH" sz="3600" b="1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CH" sz="3600" b="1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fr-CH" sz="3600" b="1" i="0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GB" sz="3600" b="1" i="0" dirty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fr-CH" sz="3600" b="1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CH" sz="3600" b="1" i="1" dirty="0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fr-CH" sz="3600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8A6D9F-0D04-4C9E-CC58-704FC06105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97570" y="1393312"/>
                <a:ext cx="11143046" cy="4916008"/>
              </a:xfrm>
              <a:blipFill>
                <a:blip r:embed="rId3"/>
                <a:stretch>
                  <a:fillRect l="-766" r="-438"/>
                </a:stretch>
              </a:blipFill>
            </p:spPr>
            <p:txBody>
              <a:bodyPr/>
              <a:lstStyle/>
              <a:p>
                <a:r>
                  <a:rPr lang="fr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771318-8BD7-8890-67BE-464B1E305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3C040C7-4060-4381-887A-2EF827EF70EC}" type="slidenum">
              <a:rPr lang="fr-CH" smtClean="0"/>
              <a:pPr/>
              <a:t>5</a:t>
            </a:fld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14184-A185-7256-1903-A29C26769B92}"/>
              </a:ext>
            </a:extLst>
          </p:cNvPr>
          <p:cNvSpPr txBox="1">
            <a:spLocks/>
          </p:cNvSpPr>
          <p:nvPr/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SzPct val="50000"/>
              <a:buFont typeface="Inter Light" panose="02000503000000020004" pitchFamily="2" charset="0"/>
              <a:buChar char="►"/>
              <a:defRPr sz="2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 3" pitchFamily="18" charset="2"/>
              <a:buChar char=""/>
              <a:defRPr sz="24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fr-CH" sz="10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ProbStatIT</a:t>
            </a:r>
            <a:endParaRPr lang="fr-CH" sz="1000" dirty="0">
              <a:solidFill>
                <a:prstClr val="black">
                  <a:lumMod val="65000"/>
                  <a:lumOff val="35000"/>
                </a:prst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5" name="Picture 4" descr="A black and white text&#10;&#10;AI-generated content may be incorrect.">
            <a:extLst>
              <a:ext uri="{FF2B5EF4-FFF2-40B4-BE49-F238E27FC236}">
                <a16:creationId xmlns:a16="http://schemas.microsoft.com/office/drawing/2014/main" id="{361B6F2A-A082-4274-247F-3BD19822015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0021" y="204511"/>
            <a:ext cx="4724015" cy="830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029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E206A-2211-9D78-6F35-8B558DE89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7EB702A-C118-E7ED-62A3-8B2646E8EE3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1563" y="1393825"/>
            <a:ext cx="4914900" cy="4914900"/>
          </a:xfr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1DD5F-A7A6-1040-6465-DD65ACF190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3C040C7-4060-4381-887A-2EF827EF70EC}" type="slidenum">
              <a:rPr lang="fr-CH" smtClean="0"/>
              <a:pPr/>
              <a:t>6</a:t>
            </a:fld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24922-5B5E-7D0D-3320-3EA5B61AA256}"/>
              </a:ext>
            </a:extLst>
          </p:cNvPr>
          <p:cNvSpPr txBox="1">
            <a:spLocks/>
          </p:cNvSpPr>
          <p:nvPr/>
        </p:nvSpPr>
        <p:spPr>
          <a:xfrm>
            <a:off x="241003" y="6520260"/>
            <a:ext cx="2844800" cy="2211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SzPct val="50000"/>
              <a:buFont typeface="Inter Light" panose="02000503000000020004" pitchFamily="2" charset="0"/>
              <a:buChar char="►"/>
              <a:defRPr sz="2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Wingdings 3" pitchFamily="18" charset="2"/>
              <a:buChar char=""/>
              <a:defRPr sz="24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fr-CH" sz="10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ProbStatIT</a:t>
            </a:r>
            <a:endParaRPr lang="fr-CH" sz="1000" dirty="0">
              <a:solidFill>
                <a:prstClr val="black">
                  <a:lumMod val="65000"/>
                  <a:lumOff val="35000"/>
                </a:prst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E6B48210-FDFC-3C7C-6FAE-C8E8940078C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0021" y="204511"/>
            <a:ext cx="4724015" cy="830816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36F87A59-E034-DC72-F553-117584A83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36895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5_HEVS Template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0033B3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vert="horz" wrap="square" lIns="90000" rIns="90000" rtlCol="0" anchor="ctr" anchorCtr="1">
        <a:spAutoFit/>
      </a:bodyPr>
      <a:lstStyle>
        <a:defPPr marL="383322" indent="-293764">
          <a:buSzPct val="45000"/>
          <a:buNone/>
          <a:tabLst>
            <a:tab pos="656650" algn="l"/>
            <a:tab pos="1313299" algn="l"/>
            <a:tab pos="1969949" algn="l"/>
            <a:tab pos="2626599" algn="l"/>
            <a:tab pos="3283248" algn="l"/>
            <a:tab pos="3939898" algn="l"/>
            <a:tab pos="4596548" algn="l"/>
            <a:tab pos="5253198" algn="l"/>
            <a:tab pos="5909847" algn="l"/>
            <a:tab pos="6566497" algn="l"/>
            <a:tab pos="7223147" algn="l"/>
            <a:tab pos="7879796" algn="l"/>
          </a:tabLst>
          <a:defRPr sz="2000" b="1" dirty="0" err="1" smtClean="0">
            <a:solidFill>
              <a:srgbClr val="7030A0"/>
            </a:solidFill>
            <a:latin typeface="Consolas" pitchFamily="49" charset="0"/>
          </a:defRPr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>
        <a:ln w="12700">
          <a:tailEnd type="arrow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AE827F9E369F47BA44DF5D5B04C2CA" ma:contentTypeVersion="11" ma:contentTypeDescription="Crée un document." ma:contentTypeScope="" ma:versionID="b7d19f48c3bb3549c387cdf7aa4712b4">
  <xsd:schema xmlns:xsd="http://www.w3.org/2001/XMLSchema" xmlns:xs="http://www.w3.org/2001/XMLSchema" xmlns:p="http://schemas.microsoft.com/office/2006/metadata/properties" xmlns:ns2="e7634316-75c5-4675-ae1f-8517fcbfe30d" xmlns:ns3="867800f0-a197-48df-b3d8-63ad447b0afe" targetNamespace="http://schemas.microsoft.com/office/2006/metadata/properties" ma:root="true" ma:fieldsID="5a40304e7c366f484882961a3762423f" ns2:_="" ns3:_="">
    <xsd:import namespace="e7634316-75c5-4675-ae1f-8517fcbfe30d"/>
    <xsd:import namespace="867800f0-a197-48df-b3d8-63ad447b0af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634316-75c5-4675-ae1f-8517fcbfe30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6bb7a529-b375-480f-bbfb-7cebc201035f}" ma:internalName="TaxCatchAll" ma:showField="CatchAllData" ma:web="e7634316-75c5-4675-ae1f-8517fcbfe3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7800f0-a197-48df-b3d8-63ad447b0a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e5965820-1b97-4994-ad5a-2b1f2cea3fc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67800f0-a197-48df-b3d8-63ad447b0afe">
      <Terms xmlns="http://schemas.microsoft.com/office/infopath/2007/PartnerControls"/>
    </lcf76f155ced4ddcb4097134ff3c332f>
    <TaxCatchAll xmlns="e7634316-75c5-4675-ae1f-8517fcbfe30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84B9BDF-6BDA-4CDE-91C7-275064FCDB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7634316-75c5-4675-ae1f-8517fcbfe30d"/>
    <ds:schemaRef ds:uri="867800f0-a197-48df-b3d8-63ad447b0a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759E773-22B4-4E72-98E9-9A972373B22D}">
  <ds:schemaRefs>
    <ds:schemaRef ds:uri="http://schemas.microsoft.com/office/2006/metadata/properties"/>
    <ds:schemaRef ds:uri="http://schemas.microsoft.com/office/infopath/2007/PartnerControls"/>
    <ds:schemaRef ds:uri="e7634316-75c5-4675-ae1f-8517fcbfe30d"/>
    <ds:schemaRef ds:uri="http://purl.org/dc/elements/1.1/"/>
    <ds:schemaRef ds:uri="http://purl.org/dc/dcmitype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867800f0-a197-48df-b3d8-63ad447b0afe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96CA7C3-5467-41A0-A6A5-CAC955E7D14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428</Words>
  <Application>Microsoft Office PowerPoint</Application>
  <PresentationFormat>Widescreen</PresentationFormat>
  <Paragraphs>71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Arial</vt:lpstr>
      <vt:lpstr>Calibri</vt:lpstr>
      <vt:lpstr>Cambria Math</vt:lpstr>
      <vt:lpstr>Century Gothic</vt:lpstr>
      <vt:lpstr>Consolas</vt:lpstr>
      <vt:lpstr>Inter Light</vt:lpstr>
      <vt:lpstr>Open Sans</vt:lpstr>
      <vt:lpstr>Open Sans Light</vt:lpstr>
      <vt:lpstr>Wingdings</vt:lpstr>
      <vt:lpstr>Wingdings 3</vt:lpstr>
      <vt:lpstr>5_HEVS Template</vt:lpstr>
      <vt:lpstr>PowerPoint Presentation</vt:lpstr>
      <vt:lpstr>Double pendule</vt:lpstr>
      <vt:lpstr>Lagrange</vt:lpstr>
      <vt:lpstr>Euler-Lagrange</vt:lpstr>
      <vt:lpstr>Energie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ISC course</dc:title>
  <dc:creator>Pierre-André Mudry</dc:creator>
  <cp:keywords>ISC</cp:keywords>
  <cp:lastModifiedBy>Zanad Maroua</cp:lastModifiedBy>
  <cp:revision>208</cp:revision>
  <cp:lastPrinted>2026-01-18T16:19:39Z</cp:lastPrinted>
  <dcterms:created xsi:type="dcterms:W3CDTF">2020-02-18T12:13:53Z</dcterms:created>
  <dcterms:modified xsi:type="dcterms:W3CDTF">2026-01-18T17:03:51Z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0x0101007BAE827F9E369F47BA44DF5D5B04C2CA</vt:lpwstr>
  </property>
</Properties>
</file>